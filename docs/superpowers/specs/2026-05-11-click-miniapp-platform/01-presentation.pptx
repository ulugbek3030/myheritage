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4572000"/>
            <a:ext cx="1828800" cy="1828800"/>
          </a:xfrm>
          <a:prstGeom prst="rect">
            <a:avLst/>
          </a:prstGeom>
          <a:solidFill>
            <a:srgbClr val="21295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26880" y="5303520"/>
            <a:ext cx="1828800" cy="1828800"/>
          </a:xfrm>
          <a:prstGeom prst="rect">
            <a:avLst/>
          </a:prstGeom>
          <a:solidFill>
            <a:srgbClr val="1C7293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828800"/>
            <a:ext cx="91440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Mini-Apps</a:t>
            </a:r>
            <a:endParaRPr lang="en-US" sz="6000" dirty="0"/>
          </a:p>
          <a:p>
            <a:pPr algn="l" indent="0" marL="0">
              <a:spcBef>
                <a:spcPts val="400"/>
              </a:spcBef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914400" y="40233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Предложение по программе для внешних разработчиков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914400" y="4754880"/>
            <a:ext cx="4572000" cy="0"/>
          </a:xfrm>
          <a:prstGeom prst="line">
            <a:avLst/>
          </a:prstGeom>
          <a:noFill/>
          <a:ln w="25400">
            <a:solidFill>
              <a:srgbClr val="F2B14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49377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мая 2026</a:t>
            </a:r>
            <a:pPr algn="l" indent="0" marL="0">
              <a:buNone/>
            </a:pPr>
            <a:r>
              <a:rPr lang="en-US" sz="1400" dirty="0">
                <a:solidFill>
                  <a:srgbClr val="1C729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  ·   </a:t>
            </a:r>
            <a:pPr algn="l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Подготовлено командой Click Family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23444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5A647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Зачем формализовать программу для разработчиков мини-аппов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54864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A22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Click открывает программу для </a:t>
            </a:r>
            <a:pPr algn="l"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065A8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внешних разработчиков</a:t>
            </a:r>
            <a:pPr algn="l"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A22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(юр.лицо / ИП / самозанятый) — с понятными правилами, документами и SLA. Превращаем разработку мини-аппов из «дёрни знакомого в Click» в публичную программу.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309360" y="1828800"/>
            <a:ext cx="53949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309360" y="1828800"/>
            <a:ext cx="109728" cy="12344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0" y="19659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Полный контроль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583680" y="2331720"/>
            <a:ext cx="5029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KYC, ревью, kill-switch, audit log — что попадает к пользователям решает Click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09360" y="3246120"/>
            <a:ext cx="53949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09360" y="3246120"/>
            <a:ext cx="109728" cy="12344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33832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Низкая операционка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83680" y="3749040"/>
            <a:ext cx="5029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Self-hosted мини-аппы — runtime у разработчика, Click не несёт нагрузку выполнения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309360" y="4663440"/>
            <a:ext cx="53949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09360" y="4663440"/>
            <a:ext cx="109728" cy="12344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0" y="48006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trail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583680" y="5166360"/>
            <a:ext cx="5029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Прозрачная аудиторская цепочка для регулятора и собственного compliance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 / 11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предлагаем — в одном абзаце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23444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5A647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Программа Click Mini-Apps Platform одной строкой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137160" cy="41148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28800"/>
            <a:ext cx="1088136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A22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Click открывает программу </a:t>
            </a:r>
            <a:pPr algn="l"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065A8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miniapps.click.uz</a:t>
            </a:r>
            <a:pPr algn="l"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A22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с кабинетом разработчика, тестовой инфраструктурой (собственный GitLab + sandbox API + sandbox-эмулятор Click WebView), документацией и формализованным процессом </a:t>
            </a:r>
            <a:pPr algn="l"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065A8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ревью → approve → публикация</a:t>
            </a:r>
            <a:pPr algn="l"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A22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в нативном Click marketplace.</a:t>
            </a:r>
            <a:endParaRPr lang="en-US" sz="1800" dirty="0"/>
          </a:p>
          <a:p>
            <a:pPr algn="l" indent="0" marL="0">
              <a:spcAft>
                <a:spcPts val="600"/>
              </a:spcAft>
              <a:buNone/>
            </a:pPr>
            <a:endParaRPr lang="en-US" sz="18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A22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Мини-аппы хостятся на стороне разработчика. Click выступает identity provider (WebView Bridge), процессором платежей (HMAC backend API), доставщиком push (registry утверждённых шаблонов) и каталогом.</a:t>
            </a:r>
            <a:endParaRPr lang="en-US" sz="1800" dirty="0"/>
          </a:p>
          <a:p>
            <a:pPr algn="l" indent="0" marL="0">
              <a:spcAft>
                <a:spcPts val="600"/>
              </a:spcAft>
              <a:buNone/>
            </a:pPr>
            <a:endParaRPr lang="en-US" sz="18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A22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Безопасность — четырёхслойная: domain pinning + daily fingerprint + delta-review + kill-switch. Эскалация при повторных нарушениях — всегда через менеджера.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 / 11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Архитектура: три плоскости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23444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5A647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Чёткое разделение ответственности и интерфейсов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65760" y="1828800"/>
            <a:ext cx="3657600" cy="7772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7452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Plane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22402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Что видит разработчик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2606040"/>
            <a:ext cx="365760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2907792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7889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miniapps.click.uz — кабинет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4360" y="3456432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3375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git.miniapps.click.uz — GitLab CE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94360" y="4005072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8862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docs.miniapps.click.uz — документация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187952" y="1828800"/>
            <a:ext cx="3657600" cy="7772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4370832" y="187452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Plane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370832" y="22402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Где живёт мини-апп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187952" y="2606040"/>
            <a:ext cx="365760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16552" y="2907792"/>
            <a:ext cx="109728" cy="10972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9" name="Text 17"/>
          <p:cNvSpPr/>
          <p:nvPr/>
        </p:nvSpPr>
        <p:spPr>
          <a:xfrm>
            <a:off x="4645152" y="27889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Мини-апп self-hosted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416552" y="3456432"/>
            <a:ext cx="109728" cy="10972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/>
          <p:nvPr/>
        </p:nvSpPr>
        <p:spPr>
          <a:xfrm>
            <a:off x="4645152" y="33375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sandbox.api.click.uz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416552" y="4005072"/>
            <a:ext cx="109728" cy="10972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3" name="Text 21"/>
          <p:cNvSpPr/>
          <p:nvPr/>
        </p:nvSpPr>
        <p:spPr>
          <a:xfrm>
            <a:off x="4645152" y="38862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api.click.uz / auth.click.uz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416552" y="4553712"/>
            <a:ext cx="109728" cy="10972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5" name="Text 23"/>
          <p:cNvSpPr/>
          <p:nvPr/>
        </p:nvSpPr>
        <p:spPr>
          <a:xfrm>
            <a:off x="4645152" y="44348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Click app marketplace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010144" y="1828800"/>
            <a:ext cx="3657600" cy="77724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27" name="Text 25"/>
          <p:cNvSpPr/>
          <p:nvPr/>
        </p:nvSpPr>
        <p:spPr>
          <a:xfrm>
            <a:off x="8193024" y="187452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Plane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8193024" y="22402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Что делает Click внутри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010144" y="2606040"/>
            <a:ext cx="365760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38744" y="2907792"/>
            <a:ext cx="109728" cy="109728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31" name="Text 29"/>
          <p:cNvSpPr/>
          <p:nvPr/>
        </p:nvSpPr>
        <p:spPr>
          <a:xfrm>
            <a:off x="8467344" y="27889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Admin Console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8238744" y="3456432"/>
            <a:ext cx="109728" cy="109728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33" name="Text 31"/>
          <p:cNvSpPr/>
          <p:nvPr/>
        </p:nvSpPr>
        <p:spPr>
          <a:xfrm>
            <a:off x="8467344" y="33375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Daily Fingerprint Bot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8238744" y="4005072"/>
            <a:ext cx="109728" cy="109728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35" name="Text 33"/>
          <p:cNvSpPr/>
          <p:nvPr/>
        </p:nvSpPr>
        <p:spPr>
          <a:xfrm>
            <a:off x="8467344" y="38862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Push Template Registry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8238744" y="4553712"/>
            <a:ext cx="109728" cy="109728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37" name="Text 35"/>
          <p:cNvSpPr/>
          <p:nvPr/>
        </p:nvSpPr>
        <p:spPr>
          <a:xfrm>
            <a:off x="8467344" y="44348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Moderation Queue + Audit Log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365760" y="612648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A647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Плоскости общаются строго через определённые API. Никаких ad-hoc обходов. Все cross-plane вызовы — в audit log.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 / 11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получает разработчик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23444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5A647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10 ключевых элементов developer experience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65760" y="192024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182880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Регистрация за 15 мин — sandbox сразу, без проверок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26480" y="192024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6126480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766560" y="182880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GitLab-репо из template под выбранный capability-уровень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278892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2788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05840" y="269748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Sandbox Launcher — эмулятор Click WebView в кабинете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26480" y="278892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6126480" y="2788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766560" y="269748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10–20 тестовых пользователей с разными KYC-статусами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365760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3657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05840" y="356616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Fake-платежи и fake-push с возможностью форсить отказы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126480" y="365760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6126480" y="3657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766560" y="356616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Cabinet Security Scanner (shift-left, те же проверки что на ревью)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65760" y="452628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4526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05840" y="443484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Webhook Inspector — если нет публичного URL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126480" y="452628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6" name="Text 24"/>
          <p:cNvSpPr/>
          <p:nvPr/>
        </p:nvSpPr>
        <p:spPr>
          <a:xfrm>
            <a:off x="6126480" y="4526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766560" y="443484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Документация на RU+UZ, SDK для JS/Node.js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65760" y="539496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9" name="Text 27"/>
          <p:cNvSpPr/>
          <p:nvPr/>
        </p:nvSpPr>
        <p:spPr>
          <a:xfrm>
            <a:off x="365760" y="5394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005840" y="530352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Прозрачный flow ревью: 30 мин auto + 7 раб.дней manual + 3 раб.дня delta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126480" y="539496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2" name="Text 30"/>
          <p:cNvSpPr/>
          <p:nvPr/>
        </p:nvSpPr>
        <p:spPr>
          <a:xfrm>
            <a:off x="6126480" y="5394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766560" y="530352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Понятная политика lifecycle: как избежать auto-disable, как восстановиться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 / 11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получает Click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23444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5A647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7 стратегических выигрышей для платформы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65760" y="1828800"/>
            <a:ext cx="55778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828800"/>
            <a:ext cx="91440" cy="10058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92024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Контролируемая экосистема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5212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Партнёрские сервисы в нативном marketplace без операционной нагрузки на хостинг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26480" y="1828800"/>
            <a:ext cx="55778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26480" y="1828800"/>
            <a:ext cx="91440" cy="10058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0" y="192024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trail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0" y="2286000"/>
            <a:ext cx="5212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KYC, договоры, ревью, audit log, fingerprint history — всё структурно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926080"/>
            <a:ext cx="55778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926080"/>
            <a:ext cx="91440" cy="10058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01752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Защита бренда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0080" y="3383280"/>
            <a:ext cx="5212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Kill-switch при нарушениях, эскалация повторных — на менеджеров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26480" y="2926080"/>
            <a:ext cx="55778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0" y="2926080"/>
            <a:ext cx="91440" cy="10058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0" y="301752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Готовность к монетизации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00800" y="3383280"/>
            <a:ext cx="5212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Поле fee_amount в payment API живёт с нуля, активация когда захотим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4023360"/>
            <a:ext cx="55778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4023360"/>
            <a:ext cx="91440" cy="10058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411480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Стандартизация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0080" y="4480560"/>
            <a:ext cx="5212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Все мини-аппы (включая embedded) могут переехать на единый протокол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126480" y="4023360"/>
            <a:ext cx="55778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26480" y="4023360"/>
            <a:ext cx="91440" cy="10058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0" y="411480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Регуляторная готовность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400800" y="4480560"/>
            <a:ext cx="5212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Consent flows, ПДн в Узбекистане, отчётность по транзакциям/push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5760" y="5120640"/>
            <a:ext cx="55778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65760" y="5120640"/>
            <a:ext cx="91440" cy="10058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521208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Качество разработчиков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40080" y="5577840"/>
            <a:ext cx="5212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Pen-test от утверждённых компаний отсеивает шарашек на входе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6 / 11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Levels — что мини-аппы могут делать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23444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5A647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Инкрементальные уровни; каждый = отдельная подача на ревью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20040" y="1828800"/>
            <a:ext cx="2788920" cy="10058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92024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02920" y="237744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SSO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20040" y="2834640"/>
            <a:ext cx="27889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97180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ВОЗМОЖНОСТИ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324612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2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user_id, имя, телефон, аватар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402336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 TIER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02920" y="429768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2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K1 (юр.лицо / ИП / самозанятый)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507492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ТИПОВОЕ ПРИМЕНЕНИЕ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2920" y="534924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2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Информационные мини-аппы, справочники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18688" y="1828800"/>
            <a:ext cx="2788920" cy="10058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3401568" y="192024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3401568" y="237744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Profile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3218688" y="2834640"/>
            <a:ext cx="27889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01568" y="297180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ВОЗМОЖНОСТИ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401568" y="324612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2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+ KYC статус, регион, язык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401568" y="402336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 TIER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401568" y="429768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2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K1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401568" y="507492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ТИПОВОЕ ПРИМЕНЕНИЕ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401568" y="534924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2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Сервисы с ограничениями по KYC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117336" y="1828800"/>
            <a:ext cx="2788920" cy="100584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25" name="Text 23"/>
          <p:cNvSpPr/>
          <p:nvPr/>
        </p:nvSpPr>
        <p:spPr>
          <a:xfrm>
            <a:off x="6300216" y="192024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6300216" y="237744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Payments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117336" y="2834640"/>
            <a:ext cx="27889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00216" y="297180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ВОЗМОЖНОСТИ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300216" y="324612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2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+ инициация платежа + webhooks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300216" y="402336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 TIER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300216" y="429768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2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K2 (K1 + расч.счёт + договор)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300216" y="507492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ТИПОВОЕ ПРИМЕНЕНИЕ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300216" y="534924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2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E-commerce, доставка, услуги за деньги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9015984" y="1828800"/>
            <a:ext cx="2788920" cy="1005840"/>
          </a:xfrm>
          <a:prstGeom prst="rect">
            <a:avLst/>
          </a:prstGeom>
          <a:solidFill>
            <a:srgbClr val="4A2545"/>
          </a:solidFill>
          <a:ln/>
        </p:spPr>
      </p:sp>
      <p:sp>
        <p:nvSpPr>
          <p:cNvPr id="35" name="Text 33"/>
          <p:cNvSpPr/>
          <p:nvPr/>
        </p:nvSpPr>
        <p:spPr>
          <a:xfrm>
            <a:off x="9198864" y="192024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</a:t>
            </a:r>
            <a:endParaRPr lang="en-US" sz="2800" dirty="0"/>
          </a:p>
        </p:txBody>
      </p:sp>
      <p:sp>
        <p:nvSpPr>
          <p:cNvPr id="36" name="Text 34"/>
          <p:cNvSpPr/>
          <p:nvPr/>
        </p:nvSpPr>
        <p:spPr>
          <a:xfrm>
            <a:off x="9198864" y="237744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Push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9015984" y="2834640"/>
            <a:ext cx="27889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198864" y="297180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4A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ВОЗМОЖНОСТИ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9198864" y="324612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2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+ push по утверждённым шаблонам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9198864" y="402336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4A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 TIER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9198864" y="429768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2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K3 (K2 + DPO + privacy policy)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9198864" y="507492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4A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ТИПОВОЕ ПРИМЕНЕНИЕ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9198864" y="534924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2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Уведомления о заказах, статусах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7 / 11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 tiers — кто допускается на каждом уровне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23444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5A647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Лестница, не параллельные треки. K0 → K1 → K2 → K3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20040" y="1828800"/>
            <a:ext cx="1463040" cy="868680"/>
          </a:xfrm>
          <a:prstGeom prst="rect">
            <a:avLst/>
          </a:prstGeom>
          <a:solidFill>
            <a:srgbClr val="5A6478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187452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K0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" y="22860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Sandbox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783080" y="1828800"/>
            <a:ext cx="100126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20240" y="19202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КТО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920240" y="2157984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2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Любой человек с Click-аккаунтом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54880" y="192024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НУЖНО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754880" y="2157984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2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Email, телефон, согласие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778240" y="192024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РАЗРЕШЕНО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778240" y="2157984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2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Песочница, GitLab, sandbox API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" y="2788920"/>
            <a:ext cx="1463040" cy="8686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320040" y="283464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K1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320040" y="32461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Production L1/L2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783080" y="2788920"/>
            <a:ext cx="100126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920240" y="28803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КТО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920240" y="3118104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2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Юр.лицо / ИП / самозанятый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54880" y="288036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НУЖНО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754880" y="3118104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2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Реквизиты, DNS-подтверждение домена, договор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778240" y="288036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РАЗРЕШЕНО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778240" y="3118104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2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Информационные мини-аппы в marketplace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0040" y="3749040"/>
            <a:ext cx="1463040" cy="8686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5" name="Text 23"/>
          <p:cNvSpPr/>
          <p:nvPr/>
        </p:nvSpPr>
        <p:spPr>
          <a:xfrm>
            <a:off x="320040" y="379476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K2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320040" y="42062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Production L3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783080" y="3749040"/>
            <a:ext cx="100126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920240" y="38404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КТО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920240" y="4078224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2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K1 + расчётный счёт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754880" y="384048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НУЖНО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754880" y="4078224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2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Банковские реквизиты, расширенный договор, pen-test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778240" y="384048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РАЗРЕШЕНО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778240" y="4078224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2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+ платежи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20040" y="4709160"/>
            <a:ext cx="1463040" cy="86868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5" name="Text 33"/>
          <p:cNvSpPr/>
          <p:nvPr/>
        </p:nvSpPr>
        <p:spPr>
          <a:xfrm>
            <a:off x="320040" y="475488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K3</a:t>
            </a:r>
            <a:endParaRPr lang="en-US" sz="2800" dirty="0"/>
          </a:p>
        </p:txBody>
      </p:sp>
      <p:sp>
        <p:nvSpPr>
          <p:cNvPr id="36" name="Text 34"/>
          <p:cNvSpPr/>
          <p:nvPr/>
        </p:nvSpPr>
        <p:spPr>
          <a:xfrm>
            <a:off x="320040" y="51663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Production L4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1783080" y="4709160"/>
            <a:ext cx="100126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920240" y="48006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КТО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920240" y="5038344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2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K2 + DPO + privacy policy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754880" y="480060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НУЖНО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754880" y="5038344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2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Privacy policy, ФИО ответственного, утв. push-шаблоны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8778240" y="480060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РАЗРЕШЕНО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8778240" y="5038344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2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+ push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8 / 11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Безопасность как ключевая ценность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23444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5A647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Четыре слоя защиты + независимый pen-test для L3/L4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65760" y="1828800"/>
            <a:ext cx="1188720" cy="80467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96596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554480" y="1828800"/>
            <a:ext cx="102412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783080" y="19202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Pinning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783080" y="224028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Мини-апп зафиксирован на конкретном домене через DNS TXT-record. Переезд = новый submission.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743200"/>
            <a:ext cx="1188720" cy="80467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288036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1554480" y="2743200"/>
            <a:ext cx="102412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783080" y="28346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Fingerprint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783080" y="315468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Бот каждые 24 часа сравнивает мини-апп с эталоном на момент approve. Критические расхождения → немедленный auto-disable.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657600"/>
            <a:ext cx="1188720" cy="804672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379476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16" name="Shape 14"/>
          <p:cNvSpPr/>
          <p:nvPr/>
        </p:nvSpPr>
        <p:spPr>
          <a:xfrm>
            <a:off x="1554480" y="3657600"/>
            <a:ext cx="102412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783080" y="37490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Delta-Review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783080" y="406908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Значимые изменения (новые scopes, внешние домены, формы сбора данных) — только через кабинет с повторным ревью.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4572000"/>
            <a:ext cx="1188720" cy="804672"/>
          </a:xfrm>
          <a:prstGeom prst="rect">
            <a:avLst/>
          </a:prstGeom>
          <a:solidFill>
            <a:srgbClr val="4A2545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470916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800" dirty="0"/>
          </a:p>
        </p:txBody>
      </p:sp>
      <p:sp>
        <p:nvSpPr>
          <p:cNvPr id="21" name="Shape 19"/>
          <p:cNvSpPr/>
          <p:nvPr/>
        </p:nvSpPr>
        <p:spPr>
          <a:xfrm>
            <a:off x="1554480" y="4572000"/>
            <a:ext cx="102412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783080" y="46634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Kill-switch + Reporting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783080" y="498348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Пользователь Click жалуется → moderation queue → модератор может мгновенно отключить. Эскалация повторных нарушений — через человека.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65760" y="585216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+ для L3/L4 — </a:t>
            </a:r>
            <a:pPr algn="l"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обязательный pen-test</a:t>
            </a:r>
            <a:pPr algn="l"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от утверждённой Click-пентестерской компании, валиден 12 мес. </a:t>
            </a:r>
            <a:pPr algn="l"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Cabinet Security Scanner</a:t>
            </a:r>
            <a:pPr algn="l"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(shift-left) — те же проверки, что на финальном ревью.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9 / 11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нужно от Click для запуска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23444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5A647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Три параллельных потока работ: технически, юридически, организационно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65760" y="1828800"/>
            <a:ext cx="3657600" cy="6400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7452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Технически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2468880"/>
            <a:ext cx="36576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770632"/>
            <a:ext cx="146304" cy="3657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60604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2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Поднять GitLab CE на инфре Click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3319272"/>
            <a:ext cx="146304" cy="3657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15468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2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Создать sandbox-стенд (тестовые пользователи, fake-платежи/push, Webhook Inspector)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3867912"/>
            <a:ext cx="146304" cy="3657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70332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2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Расширить Click API: WebView Bridge с JWT, HMAC backend-канал, scopes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4416552"/>
            <a:ext cx="146304" cy="3657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425196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2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Push Template Registry + rate-limit / окна enforcement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4965192"/>
            <a:ext cx="146304" cy="3657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80060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2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Daily Fingerprint Bot (headless Chromium + cron)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5513832"/>
            <a:ext cx="146304" cy="3657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534924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2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Admin Console для менеджеров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187952" y="1828800"/>
            <a:ext cx="3657600" cy="6400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0" name="Text 18"/>
          <p:cNvSpPr/>
          <p:nvPr/>
        </p:nvSpPr>
        <p:spPr>
          <a:xfrm>
            <a:off x="4370832" y="187452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Юридически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4187952" y="2468880"/>
            <a:ext cx="36576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70832" y="2770632"/>
            <a:ext cx="146304" cy="36576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3" name="Text 21"/>
          <p:cNvSpPr/>
          <p:nvPr/>
        </p:nvSpPr>
        <p:spPr>
          <a:xfrm>
            <a:off x="4599432" y="260604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2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Шаблоны договоров оферты для K1, K2, K3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370832" y="3319272"/>
            <a:ext cx="146304" cy="36576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5" name="Text 23"/>
          <p:cNvSpPr/>
          <p:nvPr/>
        </p:nvSpPr>
        <p:spPr>
          <a:xfrm>
            <a:off x="4599432" y="315468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2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Политика контента (что запрещено в Click marketplace)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370832" y="3867912"/>
            <a:ext cx="146304" cy="36576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7" name="Text 25"/>
          <p:cNvSpPr/>
          <p:nvPr/>
        </p:nvSpPr>
        <p:spPr>
          <a:xfrm>
            <a:off x="4599432" y="370332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2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Список утверждённых пен-тестерских компаний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370832" y="4416552"/>
            <a:ext cx="146304" cy="36576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9" name="Text 27"/>
          <p:cNvSpPr/>
          <p:nvPr/>
        </p:nvSpPr>
        <p:spPr>
          <a:xfrm>
            <a:off x="4599432" y="425196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2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Регламент эскалации (kill-switch, расторжение, передача в фин.разведку)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010144" y="1828800"/>
            <a:ext cx="3657600" cy="64008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1" name="Text 29"/>
          <p:cNvSpPr/>
          <p:nvPr/>
        </p:nvSpPr>
        <p:spPr>
          <a:xfrm>
            <a:off x="8193024" y="187452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Организационно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8010144" y="2468880"/>
            <a:ext cx="36576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193024" y="2770632"/>
            <a:ext cx="146304" cy="36576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4" name="Text 32"/>
          <p:cNvSpPr/>
          <p:nvPr/>
        </p:nvSpPr>
        <p:spPr>
          <a:xfrm>
            <a:off x="8421624" y="260604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2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Команда модераторов (review, complaints)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193024" y="3319272"/>
            <a:ext cx="146304" cy="36576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6" name="Text 34"/>
          <p:cNvSpPr/>
          <p:nvPr/>
        </p:nvSpPr>
        <p:spPr>
          <a:xfrm>
            <a:off x="8421624" y="315468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2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Команда compliance (KYC, договоры)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8193024" y="3867912"/>
            <a:ext cx="146304" cy="36576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8" name="Text 36"/>
          <p:cNvSpPr/>
          <p:nvPr/>
        </p:nvSpPr>
        <p:spPr>
          <a:xfrm>
            <a:off x="8421624" y="370332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2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Security Officer (фрод, утечки)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8193024" y="4416552"/>
            <a:ext cx="146304" cy="36576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40" name="Text 38"/>
          <p:cNvSpPr/>
          <p:nvPr/>
        </p:nvSpPr>
        <p:spPr>
          <a:xfrm>
            <a:off x="8421624" y="425196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2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Документация на 3 языках (RU primary, UZ latin + cyrillic, EN опционально)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365760" y="626364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A647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Решение по фазированию (что в каком порядке) — за командой Click.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10 / 11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Дальше</a:t>
            </a:r>
            <a:endParaRPr lang="en-US" sz="6000" dirty="0"/>
          </a:p>
        </p:txBody>
      </p:sp>
      <p:sp>
        <p:nvSpPr>
          <p:cNvPr id="4" name="Shape 2"/>
          <p:cNvSpPr/>
          <p:nvPr/>
        </p:nvSpPr>
        <p:spPr>
          <a:xfrm>
            <a:off x="914400" y="2468880"/>
            <a:ext cx="3657600" cy="0"/>
          </a:xfrm>
          <a:prstGeom prst="line">
            <a:avLst/>
          </a:prstGeom>
          <a:noFill/>
          <a:ln w="25400">
            <a:solidFill>
              <a:srgbClr val="F2B1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697480"/>
            <a:ext cx="100584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При согласии команды Click с предложением — следующий шаг </a:t>
            </a:r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формирование implementation plan</a:t>
            </a:r>
            <a:pPr algn="l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: разбиение по командам и сервисам, оценки трудозатрат, milestones.
</a:t>
            </a:r>
            <a:pPr algn="l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Этот материал готовится отдельно после feedback по текущему предложению.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14400" y="4754880"/>
            <a:ext cx="10058400" cy="1463040"/>
          </a:xfrm>
          <a:prstGeom prst="rect">
            <a:avLst/>
          </a:prstGeom>
          <a:solidFill>
            <a:srgbClr val="21295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0" y="484632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2B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СОПРОВОЖДАЮЩИЕ ДОКУМЕНТЫ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88720" y="512064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02-architecture.md  </a:t>
            </a:r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— полное архитектурное описание (топология, three-channel API, KYC, ревью, lifecycle)
</a:t>
            </a:r>
            <a:pPr algn="l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03-requirements.md  </a:t>
            </a:r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— функциональные, нефункциональные, security, compliance, UX и операционные требования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11 / 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Click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Click Mini-Apps Platform — Предложение</dc:title>
  <dc:subject>PptxGenJS Presentation</dc:subject>
  <dc:creator>Click Family team</dc:creator>
  <cp:lastModifiedBy>Click Family team</cp:lastModifiedBy>
  <cp:revision>1</cp:revision>
  <dcterms:created xsi:type="dcterms:W3CDTF">2026-05-11T10:05:16Z</dcterms:created>
  <dcterms:modified xsi:type="dcterms:W3CDTF">2026-05-11T10:05:16Z</dcterms:modified>
</cp:coreProperties>
</file>